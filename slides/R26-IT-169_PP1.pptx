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SLIIT · IT4010 Research Project · May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Edge-Based Energy-Efficient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Smart Waste Management System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84124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945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Presentation 1 · 50% Milestone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R26-IT-169  |  Perera G.M.T  |  IT21196638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(Hons) Information Technology · Department of Information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274320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37947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FOCUS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40416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Adaptive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Policy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749040"/>
            <a:ext cx="274320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01568" y="37947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01568" y="40416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+ 4 Sensors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(Working Prototype)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749040"/>
            <a:ext cx="274320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27648" y="37947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27648" y="40416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→ MQTT → 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RESEARCH GAP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321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IMPLEMENTATIONS FAIL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234440"/>
            <a:ext cx="388620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6187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IoT approach (Thakker &amp; Shaikh 2015; Shyam et al. 2017):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49047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Node → transmit raw sensor data every 60s → Cloud → Dashboard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three unsolved problems: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 — Wi-Fi TX draws 240mA peak; fixed 60s rate = ~62 day battery on 2000mAh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waste — stable bin at 30% fill still transmits 60×/hr; 95% of TXs carry no actionable data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adaptive intelligence — existing systems (Longhi 2012; Sankeerth 2020) don't adjust based on battery, fill velocity, or channel quality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804672"/>
            <a:ext cx="4251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804672"/>
            <a:ext cx="42519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321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(GAP 1)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prior art — Giordano et al. (ENSsys'23):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51790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+ AIMD adapts sampling rate only (one output)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deadband, urgency override, AoI floor, or bin context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3931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212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 — joint 4-output policy on one node: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606040"/>
            <a:ext cx="50292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651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6609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interval — AIMD on battery SoC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127248"/>
            <a:ext cx="50292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17296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ΔF*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31821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Deadband — fill velocity adaptive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48456"/>
            <a:ext cx="50292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6941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37033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— fill + gas + rate signal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4169664"/>
            <a:ext cx="50292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21538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4224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suppression floor per FSM state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SYSTEM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4592" y="804672"/>
            <a:ext cx="16459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8229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Bin Node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1188720"/>
            <a:ext cx="1645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" y="12344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Sensors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508760"/>
            <a:ext cx="1463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6002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HC-SR04 fill level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" y="213055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MQ-135 / MQ-5 gas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" y="2660904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DHT22 temp/humidity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7744" y="3191256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Battery monitoring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10512" y="2560320"/>
            <a:ext cx="118872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37944" y="23774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29384" y="804672"/>
            <a:ext cx="1645920" cy="38404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9384" y="8229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9384" y="1188720"/>
            <a:ext cx="1645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29384" y="12344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(PP1) / Pi (PP2)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20824" y="1508760"/>
            <a:ext cx="1463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02536" y="16002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Rule-based filtering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02536" y="213055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AIMD + deadband FSM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02536" y="2660904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Cluster arbitration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02536" y="3191256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Adaptive TX control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75304" y="2560320"/>
            <a:ext cx="118872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23774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REST/WS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94176" y="804672"/>
            <a:ext cx="164592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94176" y="8229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94176" y="1188720"/>
            <a:ext cx="1645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94176" y="12344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SQLite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85616" y="1508760"/>
            <a:ext cx="1463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67328" y="16002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 API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67328" y="213055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Socket.io fanout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67328" y="2660904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Event storage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67328" y="3191256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Authentication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40096" y="2560320"/>
            <a:ext cx="118872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67528" y="23774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58968" y="804672"/>
            <a:ext cx="1645920" cy="384048"/>
          </a:xfrm>
          <a:prstGeom prst="rect">
            <a:avLst/>
          </a:prstGeom>
          <a:solidFill>
            <a:srgbClr val="1D7A5A"/>
          </a:solidFill>
          <a:ln w="12700">
            <a:solidFill>
              <a:srgbClr val="1D7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58968" y="8229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58968" y="1188720"/>
            <a:ext cx="1645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58968" y="12344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50408" y="1508760"/>
            <a:ext cx="1463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16002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FSM state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32120" y="213055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TX comparison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32120" y="2660904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Gas/fill charts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32120" y="3191256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Battery control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223760" y="804672"/>
            <a:ext cx="1645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8229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23760" y="1188720"/>
            <a:ext cx="1645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223760" y="12344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Expo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0" y="1508760"/>
            <a:ext cx="1463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96912" y="16002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Collection alerts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96912" y="213055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Issue reporting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296912" y="2660904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Schedule view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296912" y="3191256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(PP2 milestone)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PP1 scope: Smart Bin Node + Cloud Backend + Web Dashboard live. Edge Gateway (Raspberry Pi) + Mobile App deferred to PP2 per WBS.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ADAPTIVE CONTROL POLICY — OVERVIEW (4 OUTPUTS)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484632"/>
            <a:ext cx="84124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0"/>
            <a:ext cx="1371600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77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83080" y="749808"/>
            <a:ext cx="2011680" cy="64008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804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= 30s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0607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ΔF* = 1%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8412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≥ 80%  OR  gas &gt; threshold  OR  dF/dt &gt; 10%/hr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73352"/>
            <a:ext cx="137160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110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83080" y="1783080"/>
            <a:ext cx="2011680" cy="64008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8379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= 90s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0939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ΔF* = 3%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≥ 60%  OR  dF/dt &gt; 2%/hr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06624"/>
            <a:ext cx="137160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443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83080" y="2816352"/>
            <a:ext cx="2011680" cy="64008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8712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= 300–1800s (AIMD)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127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ΔF* = 1–10%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29077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state — AIMD governs interval from battery SoC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739896"/>
            <a:ext cx="1371600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783080" y="3849624"/>
            <a:ext cx="2011680" cy="64008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39044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= 600s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4160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ΔF* = 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394106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&lt; 30%  (ALERT urgency override always wins)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79145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 &gt; 80% → T* ÷ 2  |  batt &lt; 70% → T* + 60s  |  70–80%: hold     </a:t>
            </a:r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Deadband: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ΔF* = max(1%, 10% − dF/dt × 0.5)     </a:t>
            </a:r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AoI floor enforced per state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1: T* — TRANSMISSION INTERVAL  (AIMD Control Law)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484632"/>
            <a:ext cx="84124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94360"/>
            <a:ext cx="4206240" cy="256032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8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9264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is how long the ESP32 waits before the next transmission. It adapts based on battery level using AIMD — the same control law TCP uses for congestion.
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= congestion signal: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 &gt; 80%  →  halve T* (send more, you have power)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 &lt; 70%  →  add 60s  (send less, conserve)
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       →  hold (hysteresis, stop thrashing)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3246120"/>
            <a:ext cx="4206240" cy="160020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3101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Walk-through example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35844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83080" y="35844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= 300s, battery = 90%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8313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&gt; 80%: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383133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× 0.5 = 150 → floored to 300s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07822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→ 65%: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407822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+ 60 = 360s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3251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65%: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83080" y="43251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+ 60 = 420s  (climbing toward 1800s cap)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5720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→ 85%: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83080" y="457200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× 0.5 = 210 → floored to 300s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5943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config.h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841248"/>
            <a:ext cx="416052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841248"/>
            <a:ext cx="41605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87782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firmware/include/config.h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17043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AIMD_MIN   300000UL  // floor: 300s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138988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AIMD_MAX  1800000UL  // ceiling: 1800s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160934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AIMD_AI    60000UL   // additive +60s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18288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AIMD_MD        0.5f  // multiplicative ×0.5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09160" y="217627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fsm.h — STABLE branch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423160"/>
            <a:ext cx="4160520" cy="15727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423160"/>
            <a:ext cx="41605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45973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firmware/src/fsm.h  (STABLE else-branch)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275234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(ctx.state != State::STABLE)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00600" y="29718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ctx.txInterval = AIMD_MIN; // reset on re-entry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0600" y="319125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(battPct &gt; BATT_AIMD_MD_THRESH) {  // &gt;80%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341071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ctx.txInterval *= AIMD_MD;         // halve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0600" y="363016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ctx.txInterval = max(txInterval, AIMD_MIN);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00600" y="384962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(battPct &lt; BATT_AIMD_AI_THRESH) {//70%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00600" y="40690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ctx.txInterval = min(txInterval+AIMD_AI, AIMD_MAX);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428853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70–80%: nothing (hysteresis)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09160" y="4087368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main.cpp — transmission gate: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4315968"/>
            <a:ext cx="416052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4315968"/>
            <a:ext cx="41605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35254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firmware/src/main.cpp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464515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timerFired =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00600" y="486460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(now - lastTxMs &gt;= fsm.txInterval);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2: ΔF* — DYNAMIC DEADBAND  (Send-on-Delta, Miskowicz 2006)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484632"/>
            <a:ext cx="84124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94360"/>
            <a:ext cx="4206240" cy="164592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8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the timer fires, we don't transmit if fill hasn't actually changed enough. ΔF* is the minimum fill change needed to trigger a TX.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bin is stable → wide deadband (suppress HC-SR04 noise).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filling fast → narrow deadband (catch real changes).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4206240" cy="251460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957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ΔF* = max(1%, 10% − dF/dt × 0.5)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7432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dF/dt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61872" y="2743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ΔF*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47088" y="2743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017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0 %/hr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61872" y="3072384"/>
            <a:ext cx="5029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30723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47088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stable — suppresses ±1cm sensor noise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4472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4 %/hr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61872" y="3502152"/>
            <a:ext cx="5029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50215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47088" y="3447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fill — still ignores small fluctuations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387705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10 %/hr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61872" y="3931920"/>
            <a:ext cx="5029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39319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47088" y="38770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fill — catches most real changes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" y="430682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18 %/hr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261872" y="4361688"/>
            <a:ext cx="50292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436168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47088" y="43068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fill — transmits on almost every reading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5943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fsm.h — computeDeadband()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841248"/>
            <a:ext cx="4160520" cy="12984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841248"/>
            <a:ext cx="41605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87782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firmware/src/fsm.h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117043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float computeDeadband(float dFdt) {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0600" y="138988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dFdt is in %/s — convert to %/hr first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160934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dFdt_hr = dFdt * 3600.0f;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0600" y="18288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db = 10.0f - dFdt_hr * 0.5f;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00600" y="204825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max(1.0f, db); // never fully suppress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00600" y="226771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09160" y="22402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dF/dt calculation — from fsm.h: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2487168"/>
            <a:ext cx="416052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487168"/>
            <a:ext cx="41605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52374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firmware/src/fsm.h  (top of fsmUpdate)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281635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 dt = nowMs - ctx.lastSampleMs;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00600" y="303580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fill velocity in %/s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00600" y="325526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dFdt = (fillPct - ctx.prevFill) / (dt/1000.0f);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00600" y="34747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deadbandOut = computeDeadband(dFdt);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09160" y="359359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main.cpp — transmission gate: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3840480"/>
            <a:ext cx="416052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3840480"/>
            <a:ext cx="41605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387705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firmware/src/main.cpp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00600" y="416966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how much has fill moved since last TX?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00600" y="43891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fillDelta = fabs(r.fillPct - lastTxFill);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00600" y="460857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deadbandCrossed = (fillDelta &gt;= deadband);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00600" y="482803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TX fires if timer OR deadband OR urgency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3: URGENCY OVERRIDE  (Priority Always Beats Energy Conservation)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484632"/>
            <a:ext cx="84124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94360"/>
            <a:ext cx="4160520" cy="205740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8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evaluation order — runs every loop tick: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292608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87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996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check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10512" y="10058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≥ 80% OR gas &gt; threshold OR dF/dt &gt; 10%/hr → ALERT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371600"/>
            <a:ext cx="29260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71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8096" y="13807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check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10512" y="13898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&lt; 30% → CONSERVE (only if urgency false)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1755648"/>
            <a:ext cx="292608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755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1764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check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10512" y="17739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≥ 60% OR dF/dt &gt; 2%/hr → ACTIVE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139696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21488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10512" y="215798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above → STABLE (AIMD runs here)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4160520" cy="214884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07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stateChanged guard — critical detail: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108960"/>
            <a:ext cx="3931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stateChanged, every loop tick while fill ≥ 80% would transmit (~55 times/min — worse than baseline).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stateChanged: urgency fires ONCE on ALERT entry → one immediate TX. After that, the 60s AoI floor (txInterval) controls cadence.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fast alert + controlled energy.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594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fsm.h — urgency check (ALWAYS first):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841248"/>
            <a:ext cx="420624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41248"/>
            <a:ext cx="42062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8778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firmware/src/fsm.h  (fsmUpdate — priority order)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11704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URGENCY — runs before battery check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13898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(fillPct &gt;= FILL_ALERT         // ≥80%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16093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gasRaw135 &gt; GAS135_THRESHOLD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18288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gasRaw5   &gt; GAS5_THRESHOLD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20482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(dFdt*3600.0f) &gt; DFDT_ALERT) {//10%/hr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22677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ctx.state = State::ALERT;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24871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ctx.txInterval = AoI_ALERT; urgent = true;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27066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battery check comes AFTER — never suppresses alert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63440" y="235915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main.cpp — stateChanged gate: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2606040"/>
            <a:ext cx="4206240" cy="1325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606040"/>
            <a:ext cx="42062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6426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firmware/src/main.cpp  (ADAPTIVE branch)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29352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State prevState = State::STABLE;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31546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stateChanged = (fsm.state != prevState);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33741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prevState = fsm.state;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54880" y="359359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fire ONCE on entry, not every tick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38130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((urgent &amp;&amp; stateChanged) ||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54880" y="40325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timerFired || deadbandCrossed) { publish(); }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663440" y="4023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strings (visible in dashboard):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4270248"/>
            <a:ext cx="420624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4270248"/>
            <a:ext cx="42062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43068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firmware/src/main.cpp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54880" y="45994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 = fillPct&gt;=FILL_ALERT  ? "urgency-fill"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54880" y="48188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: gasRaw135&gt;THRESH135  ? "urgency-gas135"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54880" y="50383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: gasRaw5&gt;THRESH5      ? "urgency-gas5"  : "urgency-rate";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4: AoI FLOOR  (Maximum Suppression — Node Can Never Go Silent)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484632"/>
            <a:ext cx="84124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94360"/>
            <a:ext cx="4160520" cy="169164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8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AoI = Age of Information — how stale is the data at the receiver?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AoI floor, a bin that is 75% full but not changing could go silent indefinitely — deadband never crossed, no urgency. The dashboard would not know if the node is alive or dead.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AoI floor is a forced heartbeat: transmit at least once every N seconds, regardless of deadband.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4160520" cy="251460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4414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AoI floor values per state: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2761488"/>
            <a:ext cx="9144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7614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89888" y="2816352"/>
            <a:ext cx="658368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281635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21408" y="27614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risk — operator MUST have current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3264408"/>
            <a:ext cx="9144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2644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89888" y="3319272"/>
            <a:ext cx="658368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33192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21408" y="32644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trend trackable for overflow prediction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3767328"/>
            <a:ext cx="9144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7673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89888" y="3822192"/>
            <a:ext cx="658368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9888" y="38221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21408" y="37673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only — confirms node is alive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4270248"/>
            <a:ext cx="91440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2702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89888" y="4325112"/>
            <a:ext cx="658368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89888" y="432511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21408" y="42702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critical — less frequent but never silent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594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config.h — AoI constants: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841248"/>
            <a:ext cx="420624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841248"/>
            <a:ext cx="42062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87782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firmware/include/config.h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1704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AoI_ALERT     60000UL  //  60s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13898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AoI_ACTIVE   300000UL  //   5min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16093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AoI_STABLE  1800000UL  //  30min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18288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AoI_CONSERVE 900000UL  //  15min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63440" y="18928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fsm.h — AoI IS the txInterval per state: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2139696"/>
            <a:ext cx="4206240" cy="12984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139696"/>
            <a:ext cx="42062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17627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firmware/src/fsm.h  (state transitions)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24688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(fill &gt;= FILL_ALERT || gas || rate) {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26883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ctx.txInterval = AoI_ALERT;  // 60s floor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290779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(batt &lt;= BATT_LOW) {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54880" y="31272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ctx.txInterval = AoI_CONSERVE; // 15min floor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33467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(fill &gt;= FILL_ACTIVE) {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54880" y="35661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ctx.txInterval = AoI_ACTIVE;  // 5min floor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54880" y="37856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STABLE: AIMD governs, max = AIMD_MAX = 1800s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663440" y="352958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main.cpp — enforced via timer: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3776472"/>
            <a:ext cx="420624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3776472"/>
            <a:ext cx="42062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8130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firmware/src/main.cpp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54880" y="41056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AoI floor = txInterval in non-STABLE states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54880" y="43251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timerFired = (now-lastTxMs &gt;= fsm.txInterval);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4553712"/>
            <a:ext cx="4206240" cy="457200"/>
          </a:xfrm>
          <a:prstGeom prst="rect">
            <a:avLst/>
          </a:prstGeom>
          <a:solidFill>
            <a:srgbClr val="1A33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4572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AoI insight: In ALERT/ACTIVE/CONSERVE, txInterval IS the AoI floor. In STABLE, AIMD governs txInterval but AIMD_MAX (1800s) acts as the implicit AoI ceiling.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CURRENT IMPLEMENTATION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321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Serial Monitor — FSM State Transitions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22529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[WiFi] connecting to Redmi Note 14...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49047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[WiFi] connected, IP=10.97.85.244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75564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[RTC] fresh boot, initializing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2020824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[MQTT] connecting... ok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28600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[MQ] warmup complete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255117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[FSM] state=STABLE interval=300s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281635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[TX] {"state":"STABLE","fill":12.4,"reason":"timer"}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308152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[FSM] state=ACTIVE interval=90s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3346704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[TX] {"state":"ACTIVE","fill":64.2,"reason":"timer"}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361188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[FSM] state=ALERT interval=60s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387705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[TX] {"state":"ALERT","fill":82.1,"reason":"urgency-fill"}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414223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[FSM] CONSERVE (batt=25%)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17720" y="804672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804672"/>
            <a:ext cx="425196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8321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PIPELINE — VERIFIED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234440"/>
            <a:ext cx="658368" cy="246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2344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58968" y="126187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read + FSM evaluated every 1s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545336"/>
            <a:ext cx="658368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545336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58968" y="15727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broker @ 10.97.85.244:1883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856232"/>
            <a:ext cx="658368" cy="246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856232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58968" y="188366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+ stores 15-field JSON to SQLite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167128"/>
            <a:ext cx="658368" cy="24688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167128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58968" y="21945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→ live update every transmission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2788920"/>
            <a:ext cx="4251960" cy="20391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788920"/>
            <a:ext cx="425196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807208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bin/bin01/data — Live MQTT Payload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81728" y="312724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{"node_id":"bin01","mode":"ADAPTIVE",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81728" y="336499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"state":"STABLE","fill_pct":23.4,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81728" y="360273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"gas_135":1280,"gas_5":2340,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81728" y="384048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"batt_pct":80,"temp_c":29.8,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81728" y="407822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"interval":300,"deadband":9.8,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81728" y="431596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"dfdt":0.12,"reason":"timer","tx_count":7}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79145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WiFi + MQTT verified   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FSM state transitions live   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Dashboard real-time   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Battery slider controls CONSERVE   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sensors operational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STANDARDS APPLIED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01168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595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Firmware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ESP32-D0WD-V3 NodeMCU 38-pin — 240MHz dual-core, RTC memory for FSM state persistence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HC-SR04 fill level (median-of-3 filter) · MQ-135 VOC · MQ-5 LPG/methane · DHT22 temp/humidity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773936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PlatformIO + Arduino framework · PubSubClient (MQTT) · ArduinoJson · Espressif ESP-IDF deep sleep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76272"/>
            <a:ext cx="201168" cy="12801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311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560320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MQTT protocol (ISO/IEC 20922) via Mosquitto broker — lightweight pub/sub, QoS 0, 200-byte payloads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852928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 + Express RESTful API (REST architectural style, HTTP/1.1) · Socket.io WebSocket fanout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145536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better-sqlite3 — structured event store; 15-field normalised schema per reading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47872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47872"/>
            <a:ext cx="20116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6027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Best Practices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931920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IEEE citation format — 12 peer-reviewed references (ACM, IEEE IoT Journal, PLOS ONE, ENSsys)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4224528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FSM design pattern (Giordano ENSsys'23) · AIMD control law (TCP Reno) · Send-on-delta (Miskowicz 2006)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4517136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Code: modular headers (config.h, fsm.h, sensors.h) · inline comments · separation of concerns · version-pinned libs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· WBS PROGRESS · RISK MITIGATION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4846320" cy="36576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118872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node captures fill, gas, temp, battery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sends via MQTT lightweight protocol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gateway aggregates multiple bins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applies rule-based FSM filtering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Laptop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adapts TX using battery + network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 displays bin status + trends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 supports route-planning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 — schedules, alerts, reporting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stores data securely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49240" y="8229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at 50% milestone: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349240" y="11704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Problem+Reqs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458200" y="117043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349240" y="1399032"/>
            <a:ext cx="237744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49240" y="1399032"/>
            <a:ext cx="23774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49240" y="1508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IoT Prototype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458200" y="15087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349240" y="1737360"/>
            <a:ext cx="237744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49240" y="1737360"/>
            <a:ext cx="23774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49240" y="18470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Backend+DB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458200" y="184708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349240" y="2075688"/>
            <a:ext cx="237744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49240" y="2075688"/>
            <a:ext cx="2139696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9240" y="218541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Dashboard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458200" y="218541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349240" y="2414016"/>
            <a:ext cx="237744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49240" y="2414016"/>
            <a:ext cx="2020824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9240" y="252374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Edge Gateway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458200" y="2523744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349240" y="2752344"/>
            <a:ext cx="237744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49240" y="2752344"/>
            <a:ext cx="35661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49240" y="28620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Mobile App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458200" y="28620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349240" y="3090672"/>
            <a:ext cx="237744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49240" y="3090672"/>
            <a:ext cx="237744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349240" y="3108960"/>
            <a:ext cx="352044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40680" y="313639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349240" y="3456432"/>
            <a:ext cx="26517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94960" y="349300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inaccuracy / MQ drift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092440" y="3456432"/>
            <a:ext cx="7772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092440" y="34564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349240" y="3776472"/>
            <a:ext cx="26517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94960" y="381304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failure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8092440" y="3776472"/>
            <a:ext cx="7772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92440" y="377647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349240" y="4096512"/>
            <a:ext cx="26517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94960" y="413308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instability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8092440" y="4096512"/>
            <a:ext cx="7772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92440" y="409651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349240" y="4416552"/>
            <a:ext cx="26517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94960" y="445312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(mobile/cluster deferred)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8092440" y="4416552"/>
            <a:ext cx="7772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092440" y="44165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349240" y="4736592"/>
            <a:ext cx="26517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94960" y="477316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Boot-mode conflict (strapping pins)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8092440" y="4736592"/>
            <a:ext cx="7772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092440" y="47365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 &amp; NEXT MILESTONE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84124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58368"/>
            <a:ext cx="4114800" cy="329184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Markets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councils &amp; private waste firms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complexes, universities, hospitals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hardware: smart-bin + gateway cluster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SaaS: dashboard + analytics + support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+ municipal integrations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TX reduction → lower data costs + longer battery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resilience — works without internet connectivity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658368"/>
            <a:ext cx="4251960" cy="3291840"/>
          </a:xfrm>
          <a:prstGeom prst="rect">
            <a:avLst/>
          </a:prstGeom>
          <a:solidFill>
            <a:srgbClr val="1A335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7498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PP2 MILESTONE TARGETS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6592" y="1170432"/>
            <a:ext cx="7315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17043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WBS-4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59552" y="11704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edge gateway — rule engine, cluster arbitration, OVERRIDE_T feedback loop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6592" y="1883664"/>
            <a:ext cx="7315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88366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WBS-7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59552" y="188366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 collection schedules, push alerts, issue reporting (React Native)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6592" y="2596896"/>
            <a:ext cx="7315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5968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WBS-8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59552" y="259689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— 3-node cluster simulation, end-to-end evaluation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592" y="3310128"/>
            <a:ext cx="7315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3101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WBS-9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59552" y="331012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evaluation — measured TCR, AR, BLEF against fixed-interval baseline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041648"/>
            <a:ext cx="8595360" cy="56692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7822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(Sustainable Cities) + SDG 12 (Responsible Consumption).   </a:t>
            </a:r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joint AIMD + deadband + urgency + AoI policy on a single ESP32 node applied to smart waste.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R26-IT-169 PP1 — Edge-Based Smart Waste Management</dc:title>
  <dc:subject>PptxGenJS Presentation</dc:subject>
  <dc:creator>Perera G.M.T</dc:creator>
  <cp:lastModifiedBy>Perera G.M.T</cp:lastModifiedBy>
  <cp:revision>1</cp:revision>
  <dcterms:created xsi:type="dcterms:W3CDTF">2026-05-12T07:51:35Z</dcterms:created>
  <dcterms:modified xsi:type="dcterms:W3CDTF">2026-05-12T07:51:35Z</dcterms:modified>
</cp:coreProperties>
</file>